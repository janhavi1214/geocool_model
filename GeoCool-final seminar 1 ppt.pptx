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65" r:id="rId12"/>
    <p:sldId id="266" r:id="rId13"/>
    <p:sldId id="268" r:id="rId14"/>
    <p:sldId id="271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acint.2026.100423" TargetMode="External"/><Relationship Id="rId2" Type="http://schemas.openxmlformats.org/officeDocument/2006/relationships/hyperlink" Target="https://doi.org/10.1016/j.tfp.2026.101395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1016/j.las.2026.100049" TargetMode="External"/><Relationship Id="rId4" Type="http://schemas.openxmlformats.org/officeDocument/2006/relationships/hyperlink" Target="https://doi.org/10.1016/j.cacint.2026.100335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82BF4D7-1D14-79AD-90F4-EF0F02216626}"/>
              </a:ext>
            </a:extLst>
          </p:cNvPr>
          <p:cNvSpPr/>
          <p:nvPr/>
        </p:nvSpPr>
        <p:spPr>
          <a:xfrm>
            <a:off x="10384971" y="369723"/>
            <a:ext cx="1328057" cy="138287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655570" y="834372"/>
            <a:ext cx="688086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 dirty="0" err="1">
                <a:solidFill>
                  <a:srgbClr val="10B981"/>
                </a:solidFill>
                <a:latin typeface="Poppins"/>
              </a:rPr>
              <a:t>GeoCool</a:t>
            </a:r>
            <a:endParaRPr sz="6750" b="1" i="0" u="none" dirty="0">
              <a:solidFill>
                <a:srgbClr val="10B981"/>
              </a:solidFill>
              <a:latin typeface="Poppi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8314" y="1884712"/>
            <a:ext cx="9840686" cy="938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 dirty="0">
                <a:solidFill>
                  <a:srgbClr val="F8FAFC"/>
                </a:solidFill>
                <a:latin typeface="Poppins Medium"/>
              </a:rPr>
              <a:t>A </a:t>
            </a:r>
            <a:r>
              <a:rPr lang="en-US" sz="2400" dirty="0" err="1">
                <a:solidFill>
                  <a:srgbClr val="F8FAFC"/>
                </a:solidFill>
                <a:latin typeface="Poppins Medium"/>
              </a:rPr>
              <a:t>GeoAI</a:t>
            </a:r>
            <a:r>
              <a:rPr lang="en-US" sz="2400" dirty="0">
                <a:solidFill>
                  <a:srgbClr val="F8FAFC"/>
                </a:solidFill>
                <a:latin typeface="Poppins Medium"/>
              </a:rPr>
              <a:t> decision-support system for prioritizing and designing urban cooling corridors.</a:t>
            </a:r>
            <a:endParaRPr sz="2400" b="0" i="0" u="none" dirty="0">
              <a:solidFill>
                <a:srgbClr val="F8FAFC"/>
              </a:solidFill>
              <a:latin typeface="Poppins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67621-5126-624C-BBE4-33BD4B409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213" y="326572"/>
            <a:ext cx="1469571" cy="1447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47CEF7-3453-2BE4-A7DE-9DF2BEEC02F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 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37632-BF0C-53CC-0D8B-BCFB14049F92}"/>
              </a:ext>
            </a:extLst>
          </p:cNvPr>
          <p:cNvSpPr txBox="1"/>
          <p:nvPr/>
        </p:nvSpPr>
        <p:spPr>
          <a:xfrm>
            <a:off x="3973285" y="3705255"/>
            <a:ext cx="502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Project Guide :- Dr. Sharwari Deshmukh</a:t>
            </a:r>
            <a:endParaRPr lang="en-IN" sz="2000"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9739F28-E895-AACF-3B5F-260789F0E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907563"/>
              </p:ext>
            </p:extLst>
          </p:nvPr>
        </p:nvGraphicFramePr>
        <p:xfrm>
          <a:off x="3766457" y="4484393"/>
          <a:ext cx="4746172" cy="1361440"/>
        </p:xfrm>
        <a:graphic>
          <a:graphicData uri="http://schemas.openxmlformats.org/drawingml/2006/table">
            <a:tbl>
              <a:tblPr/>
              <a:tblGrid>
                <a:gridCol w="1930222">
                  <a:extLst>
                    <a:ext uri="{9D8B030D-6E8A-4147-A177-3AD203B41FA5}">
                      <a16:colId xmlns:a16="http://schemas.microsoft.com/office/drawing/2014/main" val="2558376974"/>
                    </a:ext>
                  </a:extLst>
                </a:gridCol>
                <a:gridCol w="1428865">
                  <a:extLst>
                    <a:ext uri="{9D8B030D-6E8A-4147-A177-3AD203B41FA5}">
                      <a16:colId xmlns:a16="http://schemas.microsoft.com/office/drawing/2014/main" val="1121914377"/>
                    </a:ext>
                  </a:extLst>
                </a:gridCol>
                <a:gridCol w="1387085">
                  <a:extLst>
                    <a:ext uri="{9D8B030D-6E8A-4147-A177-3AD203B41FA5}">
                      <a16:colId xmlns:a16="http://schemas.microsoft.com/office/drawing/2014/main" val="112901298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SECTION 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ROLL NO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8764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Ruchi </a:t>
                      </a:r>
                      <a:r>
                        <a:rPr lang="en-IN" sz="14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Dadwani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2116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Janhavi Vaidya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84394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Rajat Kaware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lang="en-IN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62</a:t>
                      </a:r>
                      <a:endParaRPr lang="en-IN" dirty="0">
                        <a:effectLst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2277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2669827"/>
            <a:ext cx="114300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40555" y="3012727"/>
            <a:ext cx="7110888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Poppins"/>
              </a:rPr>
              <a:t>The Urban Heat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2762" y="4108102"/>
            <a:ext cx="60864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Tackling Nagpur's Green Deficit with Spatial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915" y="2191897"/>
            <a:ext cx="5034581" cy="3447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The Problem: Concrete &amp; Heat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2095500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Urban Heat Islands: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Dense concrete and asphalt roads trap extreme summer heat in cities like Nagpur, making streets hostile.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3248025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The Green Deficit: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Rapid urbanization leaves little room for traditional large parks, demanding innovative linear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400550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Neglected Edges: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Crucial linear spaces—such as highway edges and urban road medians—remain barren and underutilized.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9787"/>
            <a:ext cx="3048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62312"/>
            <a:ext cx="33337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14837"/>
            <a:ext cx="333375" cy="276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C26649-59F0-A27B-5A2E-2A43A940A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379" y="2191897"/>
            <a:ext cx="4810124" cy="3447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80332"/>
            <a:ext cx="3429000" cy="34498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180332"/>
            <a:ext cx="3429000" cy="34498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180332"/>
            <a:ext cx="3429000" cy="34498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What We Are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5852" y="3456682"/>
            <a:ext cx="236029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Optimal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99607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Automated graph-based routing to identify continuous corridors that balance thermal mitigation with physical construction feasibility.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0874" y="3456682"/>
            <a:ext cx="201025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Explainable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999607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Machine Learning combined with SHAP to generate natural-language justifications for why a specific route was selected.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824" y="3456682"/>
            <a:ext cx="281035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Context-Aware NBS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999607"/>
            <a:ext cx="28384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Smart matching of Nature-Based Solutions (NBS) to specific urban typologies, shifting away from generic "plant a tree" mandates.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2618482"/>
            <a:ext cx="53340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618482"/>
            <a:ext cx="533400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9300" y="2618482"/>
            <a:ext cx="5334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11722"/>
            <a:ext cx="5286375" cy="358690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11722"/>
            <a:ext cx="5286375" cy="35869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Feasibility vs. Need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502247"/>
            <a:ext cx="4730591" cy="40005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EF4444"/>
                </a:solidFill>
                <a:latin typeface="Poppins SemiBold"/>
              </a:rPr>
              <a:t>The Ecological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45172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Focusing strictly on identifying the most vulnerable zones requiring immediate relief.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502247"/>
            <a:ext cx="4730591" cy="4000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B82F6"/>
                </a:solidFill>
                <a:latin typeface="Poppins SemiBold"/>
              </a:rPr>
              <a:t>The Physical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045172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Ensuring the selected green infrastructure can actually survive in a semi-arid climate.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559397"/>
            <a:ext cx="2381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5375" y="3783300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784252"/>
            <a:ext cx="431482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Heat Index (LST):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Severe surface temperature spikes.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331880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332833"/>
            <a:ext cx="431482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Pollution (PM):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High traffic particulate matter levels.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4606170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4607123"/>
            <a:ext cx="4314825" cy="54858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Population: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Dense areas for maximum socio-economic impact.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559397"/>
            <a:ext cx="200025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0" y="3783300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3784252"/>
            <a:ext cx="431482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Space: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Minimum viable street width (&gt;3 meters).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57590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5150" y="4058542"/>
            <a:ext cx="431482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Elevation: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Flat terrain (0-5% slope) for irrigation.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31880"/>
            <a:ext cx="571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Inter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5150" y="4332833"/>
            <a:ext cx="4314825" cy="27429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Resources: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Soil moisture and ground composition.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00237"/>
            <a:ext cx="11049000" cy="4009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Multi-Source Geospatial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909762"/>
          <a:ext cx="11029948" cy="3990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7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513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8BDF8"/>
                          </a:solidFill>
                          <a:latin typeface="Poppins"/>
                        </a:rPr>
                        <a:t>Data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8BDF8"/>
                          </a:solidFill>
                          <a:latin typeface="Poppins"/>
                        </a:rPr>
                        <a:t>Measurement Objective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8BDF8"/>
                          </a:solidFill>
                          <a:latin typeface="Poppins"/>
                        </a:rPr>
                        <a:t>API / Dataset 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13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Heat Index (LST)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Urban Heat Island locations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USGS Landsat 8/9 via GEE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13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Air Quality (PM)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Traffic &amp; Industrial Pollution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WAQI Live REST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13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Population Density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Citizen exposure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WorldPop via GEE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513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Street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Road geometries &amp; Widths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OSM Overpass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514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CBD5E1"/>
                          </a:solidFill>
                          <a:latin typeface="Inter"/>
                        </a:rPr>
                        <a:t>Elevation &amp; Soil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Plant survival constraints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SRTM DEM &amp; ISRIC SoilGrids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571750"/>
            <a:ext cx="28232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04294" y="2571750"/>
            <a:ext cx="43291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33407" y="2571750"/>
            <a:ext cx="38775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236565"/>
            <a:ext cx="28232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4294" y="3236565"/>
            <a:ext cx="43291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33407" y="3236565"/>
            <a:ext cx="38775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901380"/>
            <a:ext cx="28232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4294" y="3901380"/>
            <a:ext cx="43291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33407" y="3901380"/>
            <a:ext cx="38775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566195"/>
            <a:ext cx="28232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4294" y="4566195"/>
            <a:ext cx="43291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33407" y="4566195"/>
            <a:ext cx="38775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231010"/>
            <a:ext cx="282326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04294" y="5231010"/>
            <a:ext cx="43291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33407" y="5231010"/>
            <a:ext cx="38775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The AI Framework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269926"/>
            <a:ext cx="55506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Poppins SemiBold"/>
              </a:rPr>
              <a:t>Dual-Model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870001"/>
            <a:ext cx="5286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1. AHP (Rule-Based Engine):</a:t>
            </a:r>
            <a:r>
              <a:t>
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Our primary deterministic routing engine. Computes a Weighted Linear Combination over a NetworkX road graph for mathematically optimal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300537"/>
            <a:ext cx="52863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2. ML &amp; SHAP (Explainability):</a:t>
            </a:r>
            <a:r>
              <a:t>
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Trains a Random Forest model on the same feature table to cross-validate rankings. Generates natural-language explanations like </a:t>
            </a:r>
            <a:r>
              <a:rPr sz="1350" b="0" i="1" u="none">
                <a:solidFill>
                  <a:srgbClr val="CBD5E1"/>
                </a:solidFill>
                <a:latin typeface="Inter"/>
              </a:rPr>
              <a:t>"Prioritized due to high LST."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Typology &amp; NBS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933551"/>
            <a:ext cx="52863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sz="12000" b="1" i="0" u="none">
                <a:solidFill>
                  <a:srgbClr val="10B981"/>
                </a:solidFill>
                <a:latin typeface="Poppin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552801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Inter SemiBold"/>
              </a:rPr>
              <a:t>Assessment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335559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Poppins SemiBold"/>
              </a:rPr>
              <a:t>Moving Beyond Generic Planting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878484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Instead of a simplistic "plant a tree" command, the system evaluates winning routes across four dimensions to assign highly specific Nature-Based Solution (NBS) packages.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3939480"/>
            <a:ext cx="528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1. Width: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Determines canopy vs. vertical wall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4309020"/>
            <a:ext cx="528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2. Accessibility: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Distinguishes public vs. restricted zones.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4678560"/>
            <a:ext cx="528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3. NDVI: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Maps baseline existing vegetation.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5048101"/>
            <a:ext cx="528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4. Context: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Differentiates Residential vs. Industrial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106C05-66D3-1E38-1649-48CEDF491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0B99700-F837-8443-E7E5-20211E3C2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71662"/>
            <a:ext cx="5286375" cy="3619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32C4C2-B2E7-FA57-A680-5735D56C3C47}"/>
              </a:ext>
            </a:extLst>
          </p:cNvPr>
          <p:cNvSpPr txBox="1"/>
          <p:nvPr/>
        </p:nvSpPr>
        <p:spPr>
          <a:xfrm>
            <a:off x="1047750" y="1871662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The Urban Challenge: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The inner city is characterized by severe localized heat islands, high population density, and severely constrained street widths.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AAC4F-0F84-B15C-8B0B-AAE7A41670AF}"/>
              </a:ext>
            </a:extLst>
          </p:cNvPr>
          <p:cNvSpPr txBox="1"/>
          <p:nvPr/>
        </p:nvSpPr>
        <p:spPr>
          <a:xfrm>
            <a:off x="1047750" y="3024187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AI Data Evaluation: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The algorithm prioritizes pedestrian cooling and socio-economic impact over pure ecological buffering.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696E9-144F-DA60-20EF-1B18CF385706}"/>
              </a:ext>
            </a:extLst>
          </p:cNvPr>
          <p:cNvSpPr txBox="1"/>
          <p:nvPr/>
        </p:nvSpPr>
        <p:spPr>
          <a:xfrm>
            <a:off x="1047750" y="4176712"/>
            <a:ext cx="48101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Actionable Prescriptions: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When routing through dense areas—such as commercial hubs or campus zones—the AI detects space limits and assigns space-efficient NBS like </a:t>
            </a:r>
            <a:r>
              <a:rPr sz="1500" b="0" i="0" u="none">
                <a:solidFill>
                  <a:srgbClr val="F8FAFC"/>
                </a:solidFill>
                <a:latin typeface="Inter SemiBold"/>
              </a:rPr>
              <a:t>Vertical Green Walls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, </a:t>
            </a:r>
            <a:r>
              <a:rPr sz="1500" b="0" i="0" u="none">
                <a:solidFill>
                  <a:srgbClr val="F8FAFC"/>
                </a:solidFill>
                <a:latin typeface="Inter SemiBold"/>
              </a:rPr>
              <a:t>Bioswales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, and </a:t>
            </a:r>
            <a:r>
              <a:rPr sz="1500" b="0" i="0" u="none">
                <a:solidFill>
                  <a:srgbClr val="F8FAFC"/>
                </a:solidFill>
                <a:latin typeface="Inter SemiBold"/>
              </a:rPr>
              <a:t>Shading Canopy Trees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631CC3C7-2E03-08A2-B7B3-D02A1FD41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85950"/>
            <a:ext cx="333375" cy="276225"/>
          </a:xfrm>
          <a:prstGeom prst="rect">
            <a:avLst/>
          </a:prstGeom>
        </p:spPr>
      </p:pic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D1577B0F-54CD-9702-795F-F80AF3C56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38475"/>
            <a:ext cx="266700" cy="276225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A1805A54-33F6-5C8A-8159-C12D8EC5D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91000"/>
            <a:ext cx="266700" cy="2762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B19C913-2DC3-B3D8-2006-1C7463665FF1}"/>
              </a:ext>
            </a:extLst>
          </p:cNvPr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Adaptive Routing: Nagpur’s Urban Core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158978F-8287-5C00-E546-532DB3DD9E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1918788"/>
            <a:ext cx="5286375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7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E42408E-7FFB-731F-BC39-612133007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7B1443E-8363-13FE-3AB1-11B8FA33C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566862"/>
            <a:ext cx="5286375" cy="3619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4D46A3-A0D1-1721-C91D-C218B691D039}"/>
              </a:ext>
            </a:extLst>
          </p:cNvPr>
          <p:cNvSpPr txBox="1"/>
          <p:nvPr/>
        </p:nvSpPr>
        <p:spPr>
          <a:xfrm>
            <a:off x="1047750" y="1566862"/>
            <a:ext cx="48101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The Highway Challenge: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As the route approaches arterial links like the Samruddhi Mahamarg, conditions shift to extreme heat reflection, dropping pedestrian density, and heavy PM emissions.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BF19F-97D1-2C80-8686-56FDC3686CDB}"/>
              </a:ext>
            </a:extLst>
          </p:cNvPr>
          <p:cNvSpPr txBox="1"/>
          <p:nvPr/>
        </p:nvSpPr>
        <p:spPr>
          <a:xfrm>
            <a:off x="1047750" y="3024187"/>
            <a:ext cx="48101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AI Data Evaluation: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The engine detects wider road edges and automatically de-prioritizes population density, switching focus to heavy ecological buffering and drought-survival.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28F96A-5388-17D1-D2E6-AA690E775ACD}"/>
              </a:ext>
            </a:extLst>
          </p:cNvPr>
          <p:cNvSpPr txBox="1"/>
          <p:nvPr/>
        </p:nvSpPr>
        <p:spPr>
          <a:xfrm>
            <a:off x="1047750" y="4481512"/>
            <a:ext cx="48101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Actionable Prescriptions: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The system halts pedestrian-focused infrastructure and deploys </a:t>
            </a:r>
            <a:r>
              <a:rPr sz="1500" b="0" i="0" u="none">
                <a:solidFill>
                  <a:srgbClr val="F8FAFC"/>
                </a:solidFill>
                <a:latin typeface="Inter SemiBold"/>
              </a:rPr>
              <a:t>Phytoremediation Tree Belts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using deep-rooted, drought-resilient native Indian species (e.g., Neem, Karanj).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8896796F-E62D-180C-323C-DF641F2C8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81150"/>
            <a:ext cx="304800" cy="276225"/>
          </a:xfrm>
          <a:prstGeom prst="rect">
            <a:avLst/>
          </a:prstGeom>
        </p:spPr>
      </p:pic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3A2D0AE0-3871-659D-9DB2-0E0E3433D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38475"/>
            <a:ext cx="304800" cy="276225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E25CFB63-2183-75C3-6A26-F597E397AB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95800"/>
            <a:ext cx="266700" cy="2762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623C484-6D38-B553-9085-42C674005909}"/>
              </a:ext>
            </a:extLst>
          </p:cNvPr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Adaptive Routing: The Samruddhi Transition</a:t>
            </a:r>
          </a:p>
        </p:txBody>
      </p: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8DBBCDC2-3B21-0001-181C-C83DC0A863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289" y="1597476"/>
            <a:ext cx="52482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181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74527"/>
            <a:ext cx="3429000" cy="346129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174527"/>
            <a:ext cx="3429000" cy="34612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174527"/>
            <a:ext cx="3429000" cy="3461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Actionable System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470052"/>
            <a:ext cx="30289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Botanical Specs: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Native, drought-resilient species matched to local soil databases.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1525" y="4470052"/>
            <a:ext cx="30289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CBD5E1"/>
                </a:solidFill>
                <a:latin typeface="Inter"/>
              </a:rPr>
              <a:t>Context-Aware NBS: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Specialized packages like bioswales or vertical green walls.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1525" y="4470052"/>
            <a:ext cx="30289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Carbon Dashboard: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Net-zero crossover tracking and financial budget estimation.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374552"/>
            <a:ext cx="3028950" cy="1905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525" y="2374552"/>
            <a:ext cx="3028950" cy="1905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0A7F50-25B2-4E22-EB62-1520B10E85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084" y="2435104"/>
            <a:ext cx="3028951" cy="18973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Project Build Order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4067175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7981" y="4429125"/>
            <a:ext cx="24682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Poppins SemiBold"/>
              </a:rPr>
              <a:t>1. Base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838700"/>
            <a:ext cx="235074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OSM road networks &amp; Satellite layer ingestion via GEE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3901" y="2478583"/>
            <a:ext cx="24682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Poppins SemiBold"/>
              </a:rPr>
              <a:t>2. AI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2669" y="2888158"/>
            <a:ext cx="235074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AHP suitability scoring and NetworkX shortest-path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9821" y="4429125"/>
            <a:ext cx="24682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Poppins SemiBold"/>
              </a:rPr>
              <a:t>3. ML &amp; XAI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8589" y="4838700"/>
            <a:ext cx="235074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Validation via Random Forest and SHAP text generation.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15741" y="2722364"/>
            <a:ext cx="24682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8BDF8"/>
                </a:solidFill>
                <a:latin typeface="Poppins SemiBold"/>
              </a:rPr>
              <a:t>4. Full-Stack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509" y="3131939"/>
            <a:ext cx="235074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Spring Boot API integration with the interactive React 3D map.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820" y="3981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3740" y="3981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99659" y="3981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35579" y="39814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10B981"/>
                </a:solidFill>
                <a:latin typeface="Poppins SemiBold"/>
              </a:rPr>
              <a:t>Evaluation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7750" y="2209800"/>
            <a:ext cx="10572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Route Comparison: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Quantifying the direct trade-off between the absolute shortest path and the AI-optimized ecological route.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3057525"/>
            <a:ext cx="10572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Sensitivity Analysis: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Systematically varying the top AHP matrix weights to measure stability and identify "low-regret" zones.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3905250"/>
            <a:ext cx="10572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Multi-Scenario Testing: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Cross-referencing outcomes from an Ecology-First scenario versus a Budget-First socio-economic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752975"/>
            <a:ext cx="10572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AHP vs. ML Agreement: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Verifying if the trained Random Forest model's predictions align with the deterministic rule-based scoring.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24087"/>
            <a:ext cx="333375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71812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19537"/>
            <a:ext cx="3048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7262"/>
            <a:ext cx="33337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10B981"/>
                </a:solidFill>
                <a:latin typeface="Poppins SemiBold"/>
              </a:rPr>
              <a:t>References</a:t>
            </a:r>
            <a:endParaRPr sz="3000" b="0" i="0" u="none" dirty="0">
              <a:solidFill>
                <a:srgbClr val="10B981"/>
              </a:solidFill>
              <a:latin typeface="Poppins SemiBold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E04BD1-8316-C62B-F4EC-EA4CED4424BA}"/>
              </a:ext>
            </a:extLst>
          </p:cNvPr>
          <p:cNvSpPr txBox="1"/>
          <p:nvPr/>
        </p:nvSpPr>
        <p:spPr>
          <a:xfrm>
            <a:off x="571500" y="1621971"/>
            <a:ext cx="10858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Highway edge spaces as urban green infrastructure corridors:</a:t>
            </a:r>
            <a:r>
              <a:rPr lang="en-IN" dirty="0">
                <a:solidFill>
                  <a:schemeClr val="bg1"/>
                </a:solidFill>
              </a:rPr>
              <a:t> A typology-based NBS suitability framework for rapidly urbanising cities in the Global South. (</a:t>
            </a:r>
            <a:r>
              <a:rPr lang="en-IN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https://doi.org/10.1016/j.tfp.2026.101395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GIS-based prioritization of urban green roofs</a:t>
            </a:r>
            <a:r>
              <a:rPr lang="en-IN" dirty="0">
                <a:solidFill>
                  <a:schemeClr val="bg1"/>
                </a:solidFill>
              </a:rPr>
              <a:t> to enhance biodiversity in Amman, Jordan. (</a:t>
            </a:r>
            <a:r>
              <a:rPr lang="en-IN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https://doi.org/10.1016/j.cacint.2026.100423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Evaluating urban policy:</a:t>
            </a:r>
            <a:r>
              <a:rPr lang="en-IN" dirty="0">
                <a:solidFill>
                  <a:schemeClr val="bg1"/>
                </a:solidFill>
              </a:rPr>
              <a:t> A GIS-based comparison of urban green space suitability model with Adama City’s Structural Plan. (</a:t>
            </a:r>
            <a:r>
              <a:rPr lang="en-IN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https://doi.org/10.1016/j.cacint.2026.100335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Urban ecological corridors (UECs) as sustainable paths to climate change adaptation</a:t>
            </a:r>
            <a:r>
              <a:rPr lang="en-IN" dirty="0">
                <a:solidFill>
                  <a:schemeClr val="bg1"/>
                </a:solidFill>
              </a:rPr>
              <a:t> and urban resilience: Reflections from Kolkata, India. (</a:t>
            </a:r>
            <a:r>
              <a:rPr lang="en-IN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https://doi.org/10.1016/j.las.2026.100049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1239F-7F7C-AA34-D34E-9554C44B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AE8B5-71D5-D0DF-27C1-FEFF2ED5E432}"/>
              </a:ext>
            </a:extLst>
          </p:cNvPr>
          <p:cNvSpPr txBox="1"/>
          <p:nvPr/>
        </p:nvSpPr>
        <p:spPr>
          <a:xfrm>
            <a:off x="429982" y="3031670"/>
            <a:ext cx="111633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800" b="0" i="0" u="none" dirty="0">
                <a:solidFill>
                  <a:srgbClr val="10B981"/>
                </a:solidFill>
                <a:latin typeface="Poppins SemiBold"/>
              </a:rPr>
              <a:t>Thank You</a:t>
            </a:r>
            <a:endParaRPr sz="4800" b="0" i="0" u="none" dirty="0">
              <a:solidFill>
                <a:srgbClr val="10B981"/>
              </a:solidFill>
              <a:latin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443903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998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Inter</vt:lpstr>
      <vt:lpstr>Inter SemiBold</vt:lpstr>
      <vt:lpstr>Poppins</vt:lpstr>
      <vt:lpstr>Poppins Medium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RAJAT</dc:creator>
  <cp:keywords/>
  <dc:description>generated using python-pptx</dc:description>
  <cp:lastModifiedBy>RAJAT KAWARE</cp:lastModifiedBy>
  <cp:revision>3</cp:revision>
  <dcterms:created xsi:type="dcterms:W3CDTF">2013-01-27T09:14:16Z</dcterms:created>
  <dcterms:modified xsi:type="dcterms:W3CDTF">2026-08-23T14:05:40Z</dcterms:modified>
  <cp:category/>
</cp:coreProperties>
</file>